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8" r:id="rId11"/>
    <p:sldId id="269" r:id="rId12"/>
    <p:sldId id="270" r:id="rId13"/>
    <p:sldId id="271" r:id="rId14"/>
    <p:sldId id="264" r:id="rId15"/>
    <p:sldId id="265" r:id="rId16"/>
    <p:sldId id="266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8B92B-AB72-4086-B2E5-B33C38EBC1A4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E1965966-80E6-431A-86F0-B85615FED1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5500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8B92B-AB72-4086-B2E5-B33C38EBC1A4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65966-80E6-431A-86F0-B85615FED1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250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8B92B-AB72-4086-B2E5-B33C38EBC1A4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1965966-80E6-431A-86F0-B85615FED1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9924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8B92B-AB72-4086-B2E5-B33C38EBC1A4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1965966-80E6-431A-86F0-B85615FED1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944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8B92B-AB72-4086-B2E5-B33C38EBC1A4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1965966-80E6-431A-86F0-B85615FED1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5497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8B92B-AB72-4086-B2E5-B33C38EBC1A4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65966-80E6-431A-86F0-B85615FED1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2867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8B92B-AB72-4086-B2E5-B33C38EBC1A4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65966-80E6-431A-86F0-B85615FED1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9774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8B92B-AB72-4086-B2E5-B33C38EBC1A4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65966-80E6-431A-86F0-B85615FED1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8705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8B92B-AB72-4086-B2E5-B33C38EBC1A4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1965966-80E6-431A-86F0-B85615FED1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7043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8B92B-AB72-4086-B2E5-B33C38EBC1A4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1965966-80E6-431A-86F0-B85615FED1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2331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8B92B-AB72-4086-B2E5-B33C38EBC1A4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1965966-80E6-431A-86F0-B85615FED1E6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921803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8B92B-AB72-4086-B2E5-B33C38EBC1A4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1965966-80E6-431A-86F0-B85615FED1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48767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8B92B-AB72-4086-B2E5-B33C38EBC1A4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1965966-80E6-431A-86F0-B85615FED1E6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296376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8B92B-AB72-4086-B2E5-B33C38EBC1A4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1965966-80E6-431A-86F0-B85615FED1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01035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8B92B-AB72-4086-B2E5-B33C38EBC1A4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65966-80E6-431A-86F0-B85615FED1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4390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8B92B-AB72-4086-B2E5-B33C38EBC1A4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65966-80E6-431A-86F0-B85615FED1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2429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38B92B-AB72-4086-B2E5-B33C38EBC1A4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E1965966-80E6-431A-86F0-B85615FED1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9505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mailto:mauryaswati1016@gmail.co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664AF-58D7-B009-9327-6A2FE003DE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09601"/>
            <a:ext cx="8819535" cy="1081548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Bike Sharing Demand Analysis Project</a:t>
            </a: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9C3AAD-F50E-A856-643F-13126CAE1B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828800"/>
            <a:ext cx="9144000" cy="4326194"/>
          </a:xfrm>
        </p:spPr>
        <p:txBody>
          <a:bodyPr>
            <a:normAutofit/>
          </a:bodyPr>
          <a:lstStyle/>
          <a:p>
            <a:r>
              <a:rPr lang="en-US" dirty="0"/>
              <a:t>Impact of Hour, Weather, and Temperature on Rentals</a:t>
            </a:r>
          </a:p>
          <a:p>
            <a:endParaRPr lang="en-US" dirty="0"/>
          </a:p>
          <a:p>
            <a:r>
              <a:rPr lang="en-IN" dirty="0"/>
              <a:t>Name: Swati Maurya</a:t>
            </a:r>
          </a:p>
          <a:p>
            <a:r>
              <a:rPr lang="en-IN" dirty="0"/>
              <a:t>Date: 25-Marach-2026</a:t>
            </a:r>
          </a:p>
          <a:p>
            <a:r>
              <a:rPr lang="en-IN" dirty="0"/>
              <a:t>Internship: </a:t>
            </a:r>
            <a:r>
              <a:rPr lang="en-IN" dirty="0" err="1"/>
              <a:t>NextHikes</a:t>
            </a:r>
            <a:r>
              <a:rPr lang="en-IN" dirty="0"/>
              <a:t> IT Solutions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6193C9-1144-4FB1-51C3-F7DDFC687E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6061" y="4385802"/>
            <a:ext cx="3336055" cy="183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0501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40218-002C-4C81-6666-96F95CEECC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726102"/>
          </a:xfrm>
        </p:spPr>
        <p:txBody>
          <a:bodyPr>
            <a:normAutofit fontScale="90000"/>
          </a:bodyPr>
          <a:lstStyle/>
          <a:p>
            <a:r>
              <a:rPr lang="en-IN" dirty="0"/>
              <a:t>Content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44EAFA-0E40-1A8A-0D19-952EE91418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290916"/>
            <a:ext cx="9144000" cy="4257367"/>
          </a:xfrm>
        </p:spPr>
        <p:txBody>
          <a:bodyPr>
            <a:normAutofit/>
          </a:bodyPr>
          <a:lstStyle/>
          <a:p>
            <a:pPr marL="800100" lvl="1" indent="-342900" algn="l">
              <a:buFont typeface="Wingdings" panose="05000000000000000000" pitchFamily="2" charset="2"/>
              <a:buChar char="Ø"/>
            </a:pPr>
            <a:r>
              <a:rPr lang="en-IN" dirty="0"/>
              <a:t>Introduction </a:t>
            </a:r>
          </a:p>
          <a:p>
            <a:pPr marL="800100" lvl="1" indent="-342900" algn="l">
              <a:buFont typeface="Wingdings" panose="05000000000000000000" pitchFamily="2" charset="2"/>
              <a:buChar char="Ø"/>
            </a:pPr>
            <a:r>
              <a:rPr lang="en-IN" dirty="0"/>
              <a:t>Problem Statement </a:t>
            </a:r>
          </a:p>
          <a:p>
            <a:pPr marL="800100" lvl="1" indent="-342900" algn="l">
              <a:buFont typeface="Wingdings" panose="05000000000000000000" pitchFamily="2" charset="2"/>
              <a:buChar char="Ø"/>
            </a:pPr>
            <a:r>
              <a:rPr lang="en-IN" dirty="0"/>
              <a:t>Dataset Description </a:t>
            </a:r>
          </a:p>
          <a:p>
            <a:pPr marL="800100" lvl="1" indent="-342900" algn="l">
              <a:buFont typeface="Wingdings" panose="05000000000000000000" pitchFamily="2" charset="2"/>
              <a:buChar char="Ø"/>
            </a:pPr>
            <a:r>
              <a:rPr lang="en-IN" dirty="0"/>
              <a:t>Actions on Data </a:t>
            </a:r>
          </a:p>
          <a:p>
            <a:pPr marL="1200150" lvl="2" indent="-285750" algn="l">
              <a:buFont typeface="Wingdings" panose="05000000000000000000" pitchFamily="2" charset="2"/>
              <a:buChar char="Ø"/>
            </a:pPr>
            <a:r>
              <a:rPr lang="en-IN" dirty="0"/>
              <a:t>Cleaning &amp; Merging </a:t>
            </a:r>
          </a:p>
          <a:p>
            <a:pPr marL="1200150" lvl="2" indent="-285750" algn="l">
              <a:buFont typeface="Wingdings" panose="05000000000000000000" pitchFamily="2" charset="2"/>
              <a:buChar char="Ø"/>
            </a:pPr>
            <a:r>
              <a:rPr lang="en-IN" dirty="0"/>
              <a:t>Analysis &amp; Statistics (Correlation, Std Dev) </a:t>
            </a:r>
          </a:p>
          <a:p>
            <a:pPr marL="1200150" lvl="2" indent="-285750" algn="l">
              <a:buFont typeface="Wingdings" panose="05000000000000000000" pitchFamily="2" charset="2"/>
              <a:buChar char="Ø"/>
            </a:pPr>
            <a:r>
              <a:rPr lang="en-IN" dirty="0"/>
              <a:t>Visualization &amp; Dashboard </a:t>
            </a:r>
          </a:p>
          <a:p>
            <a:pPr marL="800100" lvl="1" indent="-342900" algn="l">
              <a:buFont typeface="Wingdings" panose="05000000000000000000" pitchFamily="2" charset="2"/>
              <a:buChar char="Ø"/>
            </a:pPr>
            <a:r>
              <a:rPr lang="en-IN" dirty="0"/>
              <a:t>Business Recommendations 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n-IN" dirty="0"/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0637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53892-C9B3-0F0B-95A1-EB9A779C8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65799"/>
            <a:ext cx="10515600" cy="1323439"/>
          </a:xfrm>
        </p:spPr>
        <p:txBody>
          <a:bodyPr>
            <a:normAutofit/>
          </a:bodyPr>
          <a:lstStyle/>
          <a:p>
            <a:r>
              <a:rPr lang="en-IN" sz="5400" dirty="0"/>
              <a:t>Introduction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A37FEFB-E8F8-A452-972E-E4AB85B6DAC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198" y="3146627"/>
            <a:ext cx="9977285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Bike-sharing data provides insights on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demand patterns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Analysis helps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optimize bike availability and business planning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collected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hourly/daily, including weather and user info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69756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9229D-72FA-E2D2-4884-822ECBC8F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5400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F9D73D-9EFC-99F7-F19F-07AEA3034E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Understand how time , weather, weekdays  and </a:t>
            </a:r>
            <a:r>
              <a:rPr lang="en-IN" dirty="0" err="1"/>
              <a:t>weathersit</a:t>
            </a:r>
            <a:r>
              <a:rPr lang="en-IN" dirty="0"/>
              <a:t> affect rentals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Identify trends to improve decision making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Prepare interactive dashboard for management insights</a:t>
            </a:r>
          </a:p>
        </p:txBody>
      </p:sp>
    </p:spTree>
    <p:extLst>
      <p:ext uri="{BB962C8B-B14F-4D97-AF65-F5344CB8AC3E}">
        <p14:creationId xmlns:p14="http://schemas.microsoft.com/office/powerpoint/2010/main" val="34961823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835C6-C686-7D9C-C019-459189823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Datasets Description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19DD35-B3CD-1BD6-31B2-0913440F9B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Dataset Overview</a:t>
            </a:r>
          </a:p>
          <a:p>
            <a:pPr marL="0" indent="0">
              <a:buNone/>
            </a:pPr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3 datasets Dataset1,Dataset2 and Dataset 3 were given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Dataset 1 includes</a:t>
            </a:r>
          </a:p>
          <a:p>
            <a:pPr marL="0" indent="0">
              <a:buNone/>
            </a:pPr>
            <a:r>
              <a:rPr lang="en-IN" dirty="0"/>
              <a:t>             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Dataset2 includes</a:t>
            </a:r>
          </a:p>
          <a:p>
            <a:pPr marL="0" indent="0">
              <a:buNone/>
            </a:pPr>
            <a:r>
              <a:rPr lang="en-IN" dirty="0"/>
              <a:t>   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Dataset 3 includes</a:t>
            </a:r>
          </a:p>
          <a:p>
            <a:pPr marL="0" indent="0">
              <a:buNone/>
            </a:pPr>
            <a:r>
              <a:rPr lang="en-IN" dirty="0"/>
              <a:t>   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69F95B5-7078-A51C-FEB2-99C2FCC4F4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041579"/>
              </p:ext>
            </p:extLst>
          </p:nvPr>
        </p:nvGraphicFramePr>
        <p:xfrm>
          <a:off x="1268360" y="3801269"/>
          <a:ext cx="9153830" cy="3676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15383">
                  <a:extLst>
                    <a:ext uri="{9D8B030D-6E8A-4147-A177-3AD203B41FA5}">
                      <a16:colId xmlns:a16="http://schemas.microsoft.com/office/drawing/2014/main" val="1265290852"/>
                    </a:ext>
                  </a:extLst>
                </a:gridCol>
                <a:gridCol w="915383">
                  <a:extLst>
                    <a:ext uri="{9D8B030D-6E8A-4147-A177-3AD203B41FA5}">
                      <a16:colId xmlns:a16="http://schemas.microsoft.com/office/drawing/2014/main" val="566588207"/>
                    </a:ext>
                  </a:extLst>
                </a:gridCol>
                <a:gridCol w="915383">
                  <a:extLst>
                    <a:ext uri="{9D8B030D-6E8A-4147-A177-3AD203B41FA5}">
                      <a16:colId xmlns:a16="http://schemas.microsoft.com/office/drawing/2014/main" val="3473381517"/>
                    </a:ext>
                  </a:extLst>
                </a:gridCol>
                <a:gridCol w="915383">
                  <a:extLst>
                    <a:ext uri="{9D8B030D-6E8A-4147-A177-3AD203B41FA5}">
                      <a16:colId xmlns:a16="http://schemas.microsoft.com/office/drawing/2014/main" val="678247016"/>
                    </a:ext>
                  </a:extLst>
                </a:gridCol>
                <a:gridCol w="915383">
                  <a:extLst>
                    <a:ext uri="{9D8B030D-6E8A-4147-A177-3AD203B41FA5}">
                      <a16:colId xmlns:a16="http://schemas.microsoft.com/office/drawing/2014/main" val="3413237943"/>
                    </a:ext>
                  </a:extLst>
                </a:gridCol>
                <a:gridCol w="915383">
                  <a:extLst>
                    <a:ext uri="{9D8B030D-6E8A-4147-A177-3AD203B41FA5}">
                      <a16:colId xmlns:a16="http://schemas.microsoft.com/office/drawing/2014/main" val="2406187361"/>
                    </a:ext>
                  </a:extLst>
                </a:gridCol>
                <a:gridCol w="915383">
                  <a:extLst>
                    <a:ext uri="{9D8B030D-6E8A-4147-A177-3AD203B41FA5}">
                      <a16:colId xmlns:a16="http://schemas.microsoft.com/office/drawing/2014/main" val="3981755104"/>
                    </a:ext>
                  </a:extLst>
                </a:gridCol>
                <a:gridCol w="915383">
                  <a:extLst>
                    <a:ext uri="{9D8B030D-6E8A-4147-A177-3AD203B41FA5}">
                      <a16:colId xmlns:a16="http://schemas.microsoft.com/office/drawing/2014/main" val="2077523209"/>
                    </a:ext>
                  </a:extLst>
                </a:gridCol>
                <a:gridCol w="915383">
                  <a:extLst>
                    <a:ext uri="{9D8B030D-6E8A-4147-A177-3AD203B41FA5}">
                      <a16:colId xmlns:a16="http://schemas.microsoft.com/office/drawing/2014/main" val="46658579"/>
                    </a:ext>
                  </a:extLst>
                </a:gridCol>
                <a:gridCol w="915383">
                  <a:extLst>
                    <a:ext uri="{9D8B030D-6E8A-4147-A177-3AD203B41FA5}">
                      <a16:colId xmlns:a16="http://schemas.microsoft.com/office/drawing/2014/main" val="1787533854"/>
                    </a:ext>
                  </a:extLst>
                </a:gridCol>
              </a:tblGrid>
              <a:tr h="3676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instant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dteday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season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yr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mnth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hr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holiday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weekday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weathersit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u="none" strike="noStrike" dirty="0">
                          <a:effectLst/>
                        </a:rPr>
                        <a:t>temp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66279782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7409C97-F8C5-7D45-E6BA-0BC47AF75A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2784278"/>
              </p:ext>
            </p:extLst>
          </p:nvPr>
        </p:nvGraphicFramePr>
        <p:xfrm>
          <a:off x="1622322" y="4572844"/>
          <a:ext cx="5201264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7587">
                  <a:extLst>
                    <a:ext uri="{9D8B030D-6E8A-4147-A177-3AD203B41FA5}">
                      <a16:colId xmlns:a16="http://schemas.microsoft.com/office/drawing/2014/main" val="3686923606"/>
                    </a:ext>
                  </a:extLst>
                </a:gridCol>
                <a:gridCol w="687587">
                  <a:extLst>
                    <a:ext uri="{9D8B030D-6E8A-4147-A177-3AD203B41FA5}">
                      <a16:colId xmlns:a16="http://schemas.microsoft.com/office/drawing/2014/main" val="4209140363"/>
                    </a:ext>
                  </a:extLst>
                </a:gridCol>
                <a:gridCol w="687587">
                  <a:extLst>
                    <a:ext uri="{9D8B030D-6E8A-4147-A177-3AD203B41FA5}">
                      <a16:colId xmlns:a16="http://schemas.microsoft.com/office/drawing/2014/main" val="4225616823"/>
                    </a:ext>
                  </a:extLst>
                </a:gridCol>
                <a:gridCol w="687587">
                  <a:extLst>
                    <a:ext uri="{9D8B030D-6E8A-4147-A177-3AD203B41FA5}">
                      <a16:colId xmlns:a16="http://schemas.microsoft.com/office/drawing/2014/main" val="1864117992"/>
                    </a:ext>
                  </a:extLst>
                </a:gridCol>
                <a:gridCol w="687587">
                  <a:extLst>
                    <a:ext uri="{9D8B030D-6E8A-4147-A177-3AD203B41FA5}">
                      <a16:colId xmlns:a16="http://schemas.microsoft.com/office/drawing/2014/main" val="157546912"/>
                    </a:ext>
                  </a:extLst>
                </a:gridCol>
                <a:gridCol w="687587">
                  <a:extLst>
                    <a:ext uri="{9D8B030D-6E8A-4147-A177-3AD203B41FA5}">
                      <a16:colId xmlns:a16="http://schemas.microsoft.com/office/drawing/2014/main" val="2016672493"/>
                    </a:ext>
                  </a:extLst>
                </a:gridCol>
                <a:gridCol w="687587">
                  <a:extLst>
                    <a:ext uri="{9D8B030D-6E8A-4147-A177-3AD203B41FA5}">
                      <a16:colId xmlns:a16="http://schemas.microsoft.com/office/drawing/2014/main" val="102949670"/>
                    </a:ext>
                  </a:extLst>
                </a:gridCol>
                <a:gridCol w="388155">
                  <a:extLst>
                    <a:ext uri="{9D8B030D-6E8A-4147-A177-3AD203B41FA5}">
                      <a16:colId xmlns:a16="http://schemas.microsoft.com/office/drawing/2014/main" val="658730899"/>
                    </a:ext>
                  </a:extLst>
                </a:gridCol>
              </a:tblGrid>
              <a:tr h="17526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Unnamed: 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instant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atemp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hum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windspeed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casual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registered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 dirty="0" err="1">
                          <a:effectLst/>
                        </a:rPr>
                        <a:t>cnt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184586523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8CE48AF-707B-989C-08B2-A2A1DD9AB0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3502506"/>
              </p:ext>
            </p:extLst>
          </p:nvPr>
        </p:nvGraphicFramePr>
        <p:xfrm>
          <a:off x="1217560" y="5662612"/>
          <a:ext cx="9855200" cy="34290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1274977087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296641869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107909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21553931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07980586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85101733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56873941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82045162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60398792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00362561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64552163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03531895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06790546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2540825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55348389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695532192"/>
                    </a:ext>
                  </a:extLst>
                </a:gridCol>
              </a:tblGrid>
              <a:tr h="34290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instant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dteday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season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yr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mnth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hr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holiday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weekday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weathersit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temp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atemp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hum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windspeed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casual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registered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u="none" strike="noStrike" dirty="0" err="1">
                          <a:effectLst/>
                        </a:rPr>
                        <a:t>cnt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8408225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1405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CBBA9-DFA1-3199-C038-D4E7F757A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Actions performed on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B5602-B148-1685-61D6-1D84790D10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4000"/>
            <a:ext cx="10515600" cy="46529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Data Cleaning</a:t>
            </a:r>
            <a:endParaRPr lang="en-IN" u="sng" dirty="0"/>
          </a:p>
          <a:p>
            <a:pPr marL="0" indent="0">
              <a:buNone/>
            </a:pPr>
            <a:r>
              <a:rPr lang="en-IN" u="sng" dirty="0"/>
              <a:t>Steps done in data cleaning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Removed duplicates , corrected datatypes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Handling missing values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Data formatting on table names, alignment done on table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Sorting and filtering done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Conditional formatting done on data</a:t>
            </a:r>
          </a:p>
          <a:p>
            <a:pPr marL="0" indent="0">
              <a:buNone/>
            </a:pPr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1528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101471-69DD-FECE-A79B-4591D6F1B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5974"/>
            <a:ext cx="10515600" cy="5931157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Data merging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u="sng" dirty="0"/>
              <a:t>Steps done in Data merging</a:t>
            </a:r>
          </a:p>
          <a:p>
            <a:pPr marL="0" indent="0">
              <a:buNone/>
            </a:pPr>
            <a:endParaRPr lang="en-IN" u="sng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Power Query was used to merged and append the datasets into a final dataset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Dataset1 and Dataset2 were merged using power query and the merged dataset we got was appended using power query with Dataset 3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0587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17012-5163-0AFA-42E6-E1976413A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5400" dirty="0"/>
              <a:t>Analysis and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FD2A3-AF43-74AE-02A7-5A382E9B83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29136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Calculated average , count, correlation and standard deviation for key columns(temp , casual ,registered , count, humidity)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Created pivot tables to </a:t>
            </a:r>
            <a:r>
              <a:rPr lang="en-IN" dirty="0" err="1"/>
              <a:t>analye</a:t>
            </a:r>
            <a:r>
              <a:rPr lang="en-IN" dirty="0"/>
              <a:t> rentals by hour , user type , weather and temperature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Conditional formatting used to highlight data ranges high , low and medium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Screenshots for all the charts are provided in the next slide</a:t>
            </a:r>
          </a:p>
          <a:p>
            <a:pPr marL="0" indent="0">
              <a:buNone/>
            </a:pPr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33011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8D5EC-343C-8266-BB6E-99423E7AA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Hourly bike demand</a:t>
            </a:r>
          </a:p>
        </p:txBody>
      </p:sp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0F901B40-2CFD-AD87-FF75-50BDED5D58A4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70" b="11570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EEEA53-DB86-2F7E-0448-144DB0F952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738494"/>
          </a:xfrm>
        </p:spPr>
        <p:txBody>
          <a:bodyPr>
            <a:normAutofit fontScale="85000" lnSpcReduction="10000"/>
          </a:bodyPr>
          <a:lstStyle/>
          <a:p>
            <a:r>
              <a:rPr lang="en-IN" sz="2000" dirty="0"/>
              <a:t>It shows how many bikes are rented each hour of the day </a:t>
            </a:r>
          </a:p>
          <a:p>
            <a:r>
              <a:rPr lang="en-IN" sz="2000" dirty="0"/>
              <a:t>We see peaks around 7-9 AM and 5-7 PM indicating morning and evening demand</a:t>
            </a:r>
          </a:p>
        </p:txBody>
      </p:sp>
    </p:spTree>
    <p:extLst>
      <p:ext uri="{BB962C8B-B14F-4D97-AF65-F5344CB8AC3E}">
        <p14:creationId xmlns:p14="http://schemas.microsoft.com/office/powerpoint/2010/main" val="7936667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45A66-B482-27A7-A880-27099C6EF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Hourly demand by users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85EF095F-CC92-8E38-026D-CBF2D124736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70" b="11570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7D9C83-7775-1FB6-5588-5A8F14E7C1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589213" y="5367337"/>
            <a:ext cx="8915400" cy="855697"/>
          </a:xfrm>
        </p:spPr>
        <p:txBody>
          <a:bodyPr>
            <a:normAutofit fontScale="85000" lnSpcReduction="10000"/>
          </a:bodyPr>
          <a:lstStyle/>
          <a:p>
            <a:r>
              <a:rPr lang="en-IN" sz="1800" dirty="0"/>
              <a:t>It shows the number of casual and registered users who book the bike in the hours given</a:t>
            </a:r>
          </a:p>
          <a:p>
            <a:r>
              <a:rPr lang="en-IN" sz="1800" dirty="0"/>
              <a:t>Registered users take rentals and peak hours whereas casual users take rentals from 12-2 pm </a:t>
            </a:r>
          </a:p>
        </p:txBody>
      </p:sp>
    </p:spTree>
    <p:extLst>
      <p:ext uri="{BB962C8B-B14F-4D97-AF65-F5344CB8AC3E}">
        <p14:creationId xmlns:p14="http://schemas.microsoft.com/office/powerpoint/2010/main" val="21441702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0168F-0CC1-5273-837F-CBC14C9BA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Weathersit</a:t>
            </a:r>
            <a:r>
              <a:rPr lang="en-IN" dirty="0"/>
              <a:t> vs Count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8D87FD9A-6F22-DF18-3242-5014C23807C8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70" b="11570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A777D5-845A-FF86-E417-907929F9F7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589213" y="5367337"/>
            <a:ext cx="8915400" cy="1151449"/>
          </a:xfrm>
        </p:spPr>
        <p:txBody>
          <a:bodyPr>
            <a:normAutofit lnSpcReduction="10000"/>
          </a:bodyPr>
          <a:lstStyle/>
          <a:p>
            <a:r>
              <a:rPr lang="en-IN" sz="1800" dirty="0"/>
              <a:t>Number of rentals by weather type</a:t>
            </a:r>
          </a:p>
          <a:p>
            <a:r>
              <a:rPr lang="en-IN" sz="1800" dirty="0"/>
              <a:t>Most rentals occur in clear weather</a:t>
            </a:r>
          </a:p>
          <a:p>
            <a:r>
              <a:rPr lang="en-IN" sz="1800" dirty="0"/>
              <a:t>Severe weather”4” significantly reduces rentals</a:t>
            </a:r>
          </a:p>
        </p:txBody>
      </p:sp>
    </p:spTree>
    <p:extLst>
      <p:ext uri="{BB962C8B-B14F-4D97-AF65-F5344CB8AC3E}">
        <p14:creationId xmlns:p14="http://schemas.microsoft.com/office/powerpoint/2010/main" val="28495186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46E06-D254-6FBE-69CE-8877FFDCB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3" y="4780936"/>
            <a:ext cx="8915400" cy="566738"/>
          </a:xfrm>
        </p:spPr>
        <p:txBody>
          <a:bodyPr/>
          <a:lstStyle/>
          <a:p>
            <a:r>
              <a:rPr lang="en-IN" dirty="0"/>
              <a:t>Temperature vs count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88C224E3-E8D5-5677-C896-777221CBCB6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70" b="11570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B20778-2025-0CB0-A343-64DA7E01AD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589213" y="5347673"/>
            <a:ext cx="8915400" cy="994133"/>
          </a:xfrm>
        </p:spPr>
        <p:txBody>
          <a:bodyPr>
            <a:normAutofit lnSpcReduction="10000"/>
          </a:bodyPr>
          <a:lstStyle/>
          <a:p>
            <a:r>
              <a:rPr lang="en-IN" sz="1800" dirty="0"/>
              <a:t>Rentals grouped by temperature</a:t>
            </a:r>
          </a:p>
          <a:p>
            <a:r>
              <a:rPr lang="en-IN" sz="1800" dirty="0"/>
              <a:t>Rental increases with moderate temperature and drop in extreme cold or heat</a:t>
            </a:r>
          </a:p>
        </p:txBody>
      </p:sp>
    </p:spTree>
    <p:extLst>
      <p:ext uri="{BB962C8B-B14F-4D97-AF65-F5344CB8AC3E}">
        <p14:creationId xmlns:p14="http://schemas.microsoft.com/office/powerpoint/2010/main" val="24251042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E2E63-3088-0DC6-3AF6-13F596036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Dashboard overview</a:t>
            </a:r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76CEC525-70AD-C9EF-1EBF-E346C394398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70" b="11570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FFB9F2-17A5-C778-AAF4-026E0BB0D1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1407088"/>
          </a:xfrm>
        </p:spPr>
        <p:txBody>
          <a:bodyPr>
            <a:normAutofit fontScale="70000" lnSpcReduction="20000"/>
          </a:bodyPr>
          <a:lstStyle/>
          <a:p>
            <a:r>
              <a:rPr lang="en-IN" sz="1800" dirty="0"/>
              <a:t>All charts combined in one interactive view with slicers and timeline</a:t>
            </a:r>
          </a:p>
          <a:p>
            <a:endParaRPr lang="en-IN" sz="1800" dirty="0"/>
          </a:p>
          <a:p>
            <a:r>
              <a:rPr lang="en-IN" sz="1800" dirty="0"/>
              <a:t>The dashboard allows filtering by weekday , weather and date</a:t>
            </a:r>
          </a:p>
          <a:p>
            <a:r>
              <a:rPr lang="en-IN" sz="1800" dirty="0"/>
              <a:t> </a:t>
            </a:r>
          </a:p>
          <a:p>
            <a:r>
              <a:rPr lang="en-IN" sz="1800" dirty="0"/>
              <a:t>Charts update dynamically to show real time trends</a:t>
            </a:r>
          </a:p>
        </p:txBody>
      </p:sp>
    </p:spTree>
    <p:extLst>
      <p:ext uri="{BB962C8B-B14F-4D97-AF65-F5344CB8AC3E}">
        <p14:creationId xmlns:p14="http://schemas.microsoft.com/office/powerpoint/2010/main" val="29170506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949FD-F9F5-7684-6036-590E293C0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Visualization and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ECEB8-2FB6-0169-392F-7125A29CA9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Built interactive dashboard with 4 main charts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Added slicers for weekday and weather and timeline for data filtering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Forecast charts for hourly rentals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86103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84687-FDBF-255D-0FCD-6AA1E88F6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Business Recommendation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3886F-6D7D-9931-1AA7-1B2F04942B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Allocate bike during peak hours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Increase availability during clear weather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Monitor anomalies to adjust operations dynamically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Forecast help to plan inventory and staffing</a:t>
            </a:r>
          </a:p>
        </p:txBody>
      </p:sp>
    </p:spTree>
    <p:extLst>
      <p:ext uri="{BB962C8B-B14F-4D97-AF65-F5344CB8AC3E}">
        <p14:creationId xmlns:p14="http://schemas.microsoft.com/office/powerpoint/2010/main" val="4897024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E280D-B3CF-0705-82EF-C2FA5D981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Thankyou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7CE11-E802-36B0-8A90-EABA837E61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Name: Swati Maurya</a:t>
            </a:r>
          </a:p>
          <a:p>
            <a:pPr marL="0" indent="0">
              <a:buNone/>
            </a:pPr>
            <a:r>
              <a:rPr lang="en-IN" dirty="0"/>
              <a:t>Email Id: </a:t>
            </a:r>
            <a:r>
              <a:rPr lang="en-IN" dirty="0">
                <a:hlinkClick r:id="rId2"/>
              </a:rPr>
              <a:t>mauryaswati1016@gmail.com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3543833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73</TotalTime>
  <Words>515</Words>
  <Application>Microsoft Office PowerPoint</Application>
  <PresentationFormat>Widescreen</PresentationFormat>
  <Paragraphs>123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Century Gothic</vt:lpstr>
      <vt:lpstr>Wingdings</vt:lpstr>
      <vt:lpstr>Wingdings 3</vt:lpstr>
      <vt:lpstr>Wisp</vt:lpstr>
      <vt:lpstr>Bike Sharing Demand Analysis Project</vt:lpstr>
      <vt:lpstr>Content</vt:lpstr>
      <vt:lpstr>Introduction</vt:lpstr>
      <vt:lpstr>Problem Statement</vt:lpstr>
      <vt:lpstr>Datasets Description</vt:lpstr>
      <vt:lpstr>Actions performed on Data</vt:lpstr>
      <vt:lpstr>PowerPoint Presentation</vt:lpstr>
      <vt:lpstr>Analysis and Statistics</vt:lpstr>
      <vt:lpstr>Hourly bike demand</vt:lpstr>
      <vt:lpstr>Hourly demand by users</vt:lpstr>
      <vt:lpstr>Weathersit vs Count</vt:lpstr>
      <vt:lpstr>Temperature vs count</vt:lpstr>
      <vt:lpstr>Dashboard overview</vt:lpstr>
      <vt:lpstr>Data Visualization and Dashboard</vt:lpstr>
      <vt:lpstr>Business Recommendation</vt:lpstr>
      <vt:lpstr>Thankyou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swati maurya</dc:creator>
  <cp:lastModifiedBy>swati maurya</cp:lastModifiedBy>
  <cp:revision>2</cp:revision>
  <dcterms:created xsi:type="dcterms:W3CDTF">2026-03-25T17:25:47Z</dcterms:created>
  <dcterms:modified xsi:type="dcterms:W3CDTF">2026-03-25T18:39:22Z</dcterms:modified>
</cp:coreProperties>
</file>